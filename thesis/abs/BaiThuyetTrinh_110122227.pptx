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FE034-1460-49D8-A7E8-29FC0E25A780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70CBA-747E-4D10-8125-818BC0AB38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771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70CBA-747E-4D10-8125-818BC0AB387E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2185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1C79-F229-5F0B-1410-871629DB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7ADFB-B145-3731-90B0-B0C48A7E8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18104-A975-BAC3-6524-F1677FDEA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78F61-2DBC-21F3-0775-25234E961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70CBA-747E-4D10-8125-818BC0AB387E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7521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FB18A-AFB2-0D02-6276-A9A2C399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8E15F-A88C-1F1C-D901-04BA9B5F5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23437-54A7-6D5E-3C5F-E9C1C044A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A6D4B-1839-EC48-04DB-8A1E6F06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70CBA-747E-4D10-8125-818BC0AB387E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2819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6247-C725-4662-E92D-C9304AFE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40C91-6980-BA99-B13E-540FF47EB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23EF0-4028-5325-0783-AA7BC013A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CC0BB-FEFC-1807-7A58-94CAC9A7D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70CBA-747E-4D10-8125-818BC0AB387E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4361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CC7B-5F64-15A8-7788-0625B16D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C16D0-EB77-9586-D224-C7006CE71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543B7-550D-089E-6E39-A6A5F02C4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6EBB5-7374-469B-C0CE-574CA8509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70CBA-747E-4D10-8125-818BC0AB387E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7384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24818-E0B4-1AB1-9167-EA870D72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D04C4-B982-1BD5-ECAD-FD71B3DDD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81594-9088-A391-775D-E90559E0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DC352-C76F-F8AF-12C5-3EDF03814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70CBA-747E-4D10-8125-818BC0AB387E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565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A2EB-E4E8-60A5-D673-E61DB7E32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5787A-C10C-88F1-F2F6-77239B9F2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532E7-05EC-703E-E410-04A63E76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8CD0-3B41-40FC-9B4F-F6DE1CABD583}" type="datetime1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DC6DA-60BE-F9E7-E406-AD3AC770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F82B0-AF10-19D2-BF14-6E990639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A6C5C45-29A5-45BF-8ACA-30520F031FDB}" type="slidenum">
              <a:rPr lang="vi-VN" smtClean="0"/>
              <a:pPr/>
              <a:t>‹#›</a:t>
            </a:fld>
            <a:endParaRPr lang="vi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2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6FCD-119E-3FD8-924E-A73B098A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5718"/>
            <a:ext cx="10515600" cy="90990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4FA93-0D4E-D0BE-503C-563228C28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7D324-BE9F-B7D7-6FF7-D53E2C62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4F94-6653-43D0-929B-CD87B0E24495}" type="datetime1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91E25-8436-B3AB-B069-2533B744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4333F-6B35-5A26-7F1B-A3D5BA47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789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A6C5C45-29A5-45BF-8ACA-30520F031FDB}" type="slidenum">
              <a:rPr lang="vi-VN" smtClean="0"/>
              <a:pPr/>
              <a:t>‹#›</a:t>
            </a:fld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6A8E1-DC82-8C5B-1B08-8E570D2FFBF6}"/>
              </a:ext>
            </a:extLst>
          </p:cNvPr>
          <p:cNvSpPr>
            <a:spLocks/>
          </p:cNvSpPr>
          <p:nvPr userDrawn="1"/>
        </p:nvSpPr>
        <p:spPr>
          <a:xfrm>
            <a:off x="0" y="-16350"/>
            <a:ext cx="12192000" cy="932068"/>
          </a:xfrm>
          <a:prstGeom prst="rect">
            <a:avLst/>
          </a:prstGeom>
          <a:solidFill>
            <a:srgbClr val="EBE653"/>
          </a:solidFill>
          <a:ln>
            <a:solidFill>
              <a:srgbClr val="EBE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829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5FF6-792B-A7E0-F97D-782F9AC3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C65B7-DEF6-82A5-F075-D4DFBCBC8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AE69D-B2B2-450B-76B0-920DADC9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F095-2747-420B-9829-5B7BD783D1E8}" type="datetime1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DD8B7-8DC7-AD10-DB6F-D6B3936C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121D3-DC19-6D04-C7E9-8C4C4B4A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321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5980-7E8A-328F-27AB-7F30D1D8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A09CB-2CAF-D889-7C00-F5E5B6831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2C0C2-2BA7-E10F-DE65-2754839B4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862C9-24B9-2410-4452-C00DB73A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041D-D564-4D91-94B8-931819EBC676}" type="datetime1">
              <a:rPr lang="vi-VN" smtClean="0"/>
              <a:t>28/12/2025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D2434-A136-7A05-10CC-D52D7BA7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FDB12-D75F-381A-1BC0-DB8ADA23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3241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F9AC-8425-51D0-48BC-4EEDAC9C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7C49-0996-C641-C4E0-BBDDF0E4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A7039-2947-C210-CF0C-52178AE64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4DFE9-E234-C096-EA44-695EB95EA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39F65-3A4D-153B-9205-716788281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B8841-088E-DE49-F8CF-11917346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E48F6-06D9-4562-8D43-654063D52838}" type="datetime1">
              <a:rPr lang="vi-VN" smtClean="0"/>
              <a:t>28/12/2025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B53EA5-B903-F185-7D1D-41D1B661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527DD0-0668-203B-67C5-C1EF102F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851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1BA-CF52-E96C-F41C-986C1201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A2BC7-0512-3C15-AB0C-5F448FF0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084CB-4FAA-41F3-8BCB-55D7FE68DA7B}" type="datetime1">
              <a:rPr lang="vi-VN" smtClean="0"/>
              <a:t>28/12/2025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72F13-FB9E-506B-EDCF-742F52CC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69BCF-A08A-7B12-E011-2785A661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839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8C116-3F4C-666B-8C0F-B0276729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1B9F-1EEC-43E3-BB64-C1D8880BABA6}" type="datetime1">
              <a:rPr lang="vi-VN" smtClean="0"/>
              <a:t>28/12/2025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3D31E-8646-D08F-19D6-CC7781F0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2CEB1-3CDC-EBD1-9582-D4F5BD3E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848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B8B8-319C-4FD1-4C56-AB323B9E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AF9B7-CA5B-2485-7CC4-2B8DE3562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66EC4-1325-9A34-C3EB-B4E031BE9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3E877-30B4-A5FB-A610-46148B6C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7517-9ED2-4731-8FB5-F2F67287D060}" type="datetime1">
              <a:rPr lang="vi-VN" smtClean="0"/>
              <a:t>28/12/2025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794CA-9468-8503-8D30-1590D206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3B5D1-45C8-E265-F645-A0846DD6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747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EA49D-8FE4-FC44-E354-8DD16B756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215F3-5DE3-0586-5ACB-B8DD2B7C3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3F198-D479-60DF-8533-C2E11D7BB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A3890-AF49-A591-C34A-D7A55FEE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3C4A-01AE-4E3A-BCBA-780C01D09344}" type="datetime1">
              <a:rPr lang="vi-VN" smtClean="0"/>
              <a:t>28/12/2025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91520-0DBB-2040-4A7D-395A97A8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BA241-25B8-D870-B734-EACFBFAC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405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701C-BF82-5D2B-9E34-B579E066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CC841-EA6D-EE59-FE0E-3A8F331EF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E137C-58F1-8D90-665A-82C79A8C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0422-DA79-43AD-8F36-2DDCCC916EB8}" type="datetime1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2EF99-B32E-8242-526C-5D4FE833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15623-A0FF-1473-16FB-D4BE8350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3840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4CC16-B802-C87F-52C2-AF9F5DA5E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B9AA4-3E28-2FF0-5CE0-5AE971198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107F3-F1D3-DA25-27C4-AE40BF5D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697E-C624-45BE-9594-B74DCCED970B}" type="datetime1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F178E-6E93-7D3E-1787-321B88E1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C5D3F-720A-C098-1987-86891C56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232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6F895-9BAF-F794-FCE5-EF41E806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F1EE0-F013-F1D8-B902-6A13CC126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2CCB-DF93-D2D7-9D71-6CFF6D0DE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7A557-5C43-4F6D-BB8E-0A60A7150B9B}" type="datetime1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2CBF-AFDA-0F53-36C9-8EB9FDFAE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7E9A7-EE58-CF20-BCDA-C0A2A6DED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C5C45-29A5-45BF-8ACA-30520F031F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445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4118-3D25-8B9C-6101-61BD80983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492" y="1128694"/>
            <a:ext cx="10415016" cy="2222612"/>
          </a:xfrm>
        </p:spPr>
        <p:txBody>
          <a:bodyPr>
            <a:noAutofit/>
          </a:bodyPr>
          <a:lstStyle/>
          <a:p>
            <a:r>
              <a:rPr lang="vi-VN" sz="5400" dirty="0"/>
              <a:t>XÂY DỰNG WEBSITE </a:t>
            </a:r>
            <a:br>
              <a:rPr lang="vi-VN" sz="5400" dirty="0"/>
            </a:br>
            <a:r>
              <a:rPr lang="vi-VN" sz="5400" dirty="0"/>
              <a:t>TƯ VẤN VÀ THEO DÕI SỨC KHOẺ CÁ NHÂN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72DD1-EBFF-45F1-072A-8F8552347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9949"/>
            <a:ext cx="9144000" cy="629207"/>
          </a:xfrm>
        </p:spPr>
        <p:txBody>
          <a:bodyPr>
            <a:normAutofit fontScale="85000" lnSpcReduction="10000"/>
          </a:bodyPr>
          <a:lstStyle/>
          <a:p>
            <a:r>
              <a:rPr lang="vi-VN" sz="3200" dirty="0">
                <a:latin typeface="Montserrat ExtraBold" pitchFamily="2" charset="0"/>
              </a:rPr>
              <a:t>BÁO CÁO THỰC TẬP ĐỒ ÁN CHUYÊN NGÀNH</a:t>
            </a:r>
          </a:p>
        </p:txBody>
      </p:sp>
      <p:pic>
        <p:nvPicPr>
          <p:cNvPr id="8" name="Picture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EB146189-026A-8E2A-0E0C-D17FCE11A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7800"/>
            <a:ext cx="12192000" cy="1600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02AA6D-7BA7-2711-6A42-95E80B9B5C32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932068"/>
          </a:xfrm>
          <a:prstGeom prst="rect">
            <a:avLst/>
          </a:prstGeom>
          <a:solidFill>
            <a:srgbClr val="EBE653"/>
          </a:solidFill>
          <a:ln>
            <a:solidFill>
              <a:srgbClr val="EBE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28" name="Picture 4" descr="Thông báo - tvu.edu.vn">
            <a:extLst>
              <a:ext uri="{FF2B5EF4-FFF2-40B4-BE49-F238E27FC236}">
                <a16:creationId xmlns:a16="http://schemas.microsoft.com/office/drawing/2014/main" id="{6AD8AA15-B6C0-9149-40D8-4383E76CE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6" y="23480"/>
            <a:ext cx="892238" cy="89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776B98-A062-52F4-CBBF-2B4C2DFB11A9}"/>
              </a:ext>
            </a:extLst>
          </p:cNvPr>
          <p:cNvSpPr txBox="1"/>
          <p:nvPr/>
        </p:nvSpPr>
        <p:spPr>
          <a:xfrm>
            <a:off x="152400" y="5457735"/>
            <a:ext cx="4757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GVHD:</a:t>
            </a:r>
            <a:r>
              <a:rPr lang="vi-VN" altLang="vi-VN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ThS. Nguyễn Hoàng Duy Thiện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 altLang="vi-VN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Khoa Công nghệ Thông tin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CB438-9DA7-A439-8C6C-2D331A49A025}"/>
              </a:ext>
            </a:extLst>
          </p:cNvPr>
          <p:cNvSpPr txBox="1"/>
          <p:nvPr/>
        </p:nvSpPr>
        <p:spPr>
          <a:xfrm>
            <a:off x="6689434" y="5433020"/>
            <a:ext cx="3357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Sinh viên:</a:t>
            </a:r>
            <a:r>
              <a:rPr lang="vi-VN" altLang="vi-VN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Phan Đăng Khoa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MSSV:</a:t>
            </a:r>
            <a:r>
              <a:rPr lang="vi-VN" altLang="vi-VN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	    110122227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Lớp:          </a:t>
            </a:r>
            <a:r>
              <a:rPr lang="vi-VN" altLang="vi-VN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DA22TTB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11604F9-C8B6-9F08-4111-9271B7D4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1</a:t>
            </a:fld>
            <a:endParaRPr lang="vi-V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E574A9-5B61-D833-1139-5F92414E1BE5}"/>
              </a:ext>
            </a:extLst>
          </p:cNvPr>
          <p:cNvSpPr txBox="1"/>
          <p:nvPr/>
        </p:nvSpPr>
        <p:spPr>
          <a:xfrm>
            <a:off x="2950464" y="142869"/>
            <a:ext cx="6291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b="1" dirty="0">
                <a:latin typeface="Montserrat ExtraBold" pitchFamily="2" charset="0"/>
              </a:rPr>
              <a:t>ĐẠI HỌC TRÀ VINH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b="1" dirty="0">
                <a:latin typeface="Montserrat ExtraBold" pitchFamily="2" charset="0"/>
              </a:rPr>
              <a:t>TRƯỜNG KỸ THUẬT VÀ CÔNG NGHỆ</a:t>
            </a:r>
          </a:p>
        </p:txBody>
      </p:sp>
    </p:spTree>
    <p:extLst>
      <p:ext uri="{BB962C8B-B14F-4D97-AF65-F5344CB8AC3E}">
        <p14:creationId xmlns:p14="http://schemas.microsoft.com/office/powerpoint/2010/main" val="2661330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D4F70E52-7F1C-E492-F500-D007BE832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B9A98C-8A39-2C70-6506-244A1519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359" y="2749794"/>
            <a:ext cx="3302921" cy="1325563"/>
          </a:xfrm>
        </p:spPr>
        <p:txBody>
          <a:bodyPr/>
          <a:lstStyle/>
          <a:p>
            <a:r>
              <a:rPr lang="vi-VN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NỘI DUNG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98EC9-FEE8-B03A-4AFF-A5CF4BD4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2</a:t>
            </a:fld>
            <a:endParaRPr lang="vi-V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9C0EF6-679E-F67C-C9A8-83B8F7924B19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0383E7-600B-9D5A-B7D1-0BB870A051AB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E13F4845-85D6-4176-7E9B-A2F3E0A1CD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3508785-7059-663C-5736-9C0D85B283B3}"/>
              </a:ext>
            </a:extLst>
          </p:cNvPr>
          <p:cNvSpPr txBox="1"/>
          <p:nvPr/>
        </p:nvSpPr>
        <p:spPr>
          <a:xfrm>
            <a:off x="5044283" y="1715905"/>
            <a:ext cx="5404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Đặt vấn đề &amp; Lý do chọn đề tài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6C532-D789-67A3-02F4-2F00D7F1E255}"/>
              </a:ext>
            </a:extLst>
          </p:cNvPr>
          <p:cNvSpPr txBox="1"/>
          <p:nvPr/>
        </p:nvSpPr>
        <p:spPr>
          <a:xfrm>
            <a:off x="5044282" y="2194020"/>
            <a:ext cx="3062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Mục tiêu đề tài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5E19E-9A41-4FF8-832F-C29EA6160450}"/>
              </a:ext>
            </a:extLst>
          </p:cNvPr>
          <p:cNvSpPr txBox="1"/>
          <p:nvPr/>
        </p:nvSpPr>
        <p:spPr>
          <a:xfrm>
            <a:off x="5044283" y="2672135"/>
            <a:ext cx="4244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Công nghệ sử dụng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B38CB-2D83-38A3-2C63-271C6C7BD4E8}"/>
              </a:ext>
            </a:extLst>
          </p:cNvPr>
          <p:cNvSpPr txBox="1"/>
          <p:nvPr/>
        </p:nvSpPr>
        <p:spPr>
          <a:xfrm>
            <a:off x="5044282" y="3150251"/>
            <a:ext cx="961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Kiến trúc hệ thống &amp; Quy trình xử lý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5D291-94ED-44DC-FE49-DC2B8B496EB3}"/>
              </a:ext>
            </a:extLst>
          </p:cNvPr>
          <p:cNvSpPr txBox="1"/>
          <p:nvPr/>
        </p:nvSpPr>
        <p:spPr>
          <a:xfrm>
            <a:off x="5044282" y="3626698"/>
            <a:ext cx="961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Giải thuật Hệ thống gợi ý (Rule-based Engine)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A8D3F-D261-D9F2-A19A-52377E6BE53A}"/>
              </a:ext>
            </a:extLst>
          </p:cNvPr>
          <p:cNvSpPr txBox="1"/>
          <p:nvPr/>
        </p:nvSpPr>
        <p:spPr>
          <a:xfrm>
            <a:off x="5044282" y="4103145"/>
            <a:ext cx="961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Chức năng &amp; Kết quả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CD7ED2-6A4D-5037-6223-748D9191A192}"/>
              </a:ext>
            </a:extLst>
          </p:cNvPr>
          <p:cNvSpPr txBox="1"/>
          <p:nvPr/>
        </p:nvSpPr>
        <p:spPr>
          <a:xfrm>
            <a:off x="5044282" y="4579592"/>
            <a:ext cx="961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Kết luận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CFE3BD-06BB-2D78-BE6E-EA1E025306DF}"/>
              </a:ext>
            </a:extLst>
          </p:cNvPr>
          <p:cNvSpPr txBox="1"/>
          <p:nvPr/>
        </p:nvSpPr>
        <p:spPr>
          <a:xfrm>
            <a:off x="5044281" y="5056039"/>
            <a:ext cx="961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>
                <a:latin typeface="Be Vietnam Pro" pitchFamily="2" charset="0"/>
              </a:rPr>
              <a:t>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2488263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  <p:bldP spid="13" grpId="0"/>
      <p:bldP spid="15" grpId="0"/>
      <p:bldP spid="17" grpId="0"/>
      <p:bldP spid="19" grpId="0"/>
      <p:bldP spid="21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54C9-679B-5381-3536-D18A355B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A6585CE-5C98-5E49-D665-46D119D26F14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36BE7C-66AF-251C-A692-1F2FC4E8412B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5484AC5C-2721-60D1-C734-4D88F31383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67C318C0-63A7-E0C1-2E31-8BFB480FF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B24BD1-8F60-0B4F-A842-A0FB33E6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913" y="64666"/>
            <a:ext cx="9823587" cy="1030016"/>
          </a:xfrm>
        </p:spPr>
        <p:txBody>
          <a:bodyPr>
            <a:normAutofit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ĐẶT VẤN ĐỀ &amp; LÝ DO CHỌN ĐỀ TÀI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C9661-CBCF-E0ED-7FEC-28180A93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3</a:t>
            </a:fld>
            <a:endParaRPr lang="vi-V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B97223-08F5-0224-5907-25574B953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76" y="2044293"/>
            <a:ext cx="583082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vi-VN" altLang="vi-VN" sz="2400" b="1" dirty="0"/>
              <a:t>Thực trạng: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vi-VN" altLang="vi-VN" sz="2400" dirty="0">
              <a:latin typeface="Be Vietnam Pro Black" pitchFamily="2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2400" dirty="0"/>
              <a:t> Dữ liệu sức khỏe phân tán (Data silos), khó quản lý tập trung.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2400" dirty="0"/>
              <a:t> Nhu c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ầu theo dõi sức khỏe tại nhà tăng cao sau đại dịch COVID-19.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vi-VN" altLang="vi-VN" sz="2400" dirty="0">
                <a:latin typeface="Arial" panose="020B0604020202020204" pitchFamily="34" charset="0"/>
              </a:rPr>
              <a:t> 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 công cụ tích hợp vừa lưu trữ vừa tư vấn tự động.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C464E-CE3C-F954-619D-05F782B06B24}"/>
              </a:ext>
            </a:extLst>
          </p:cNvPr>
          <p:cNvSpPr txBox="1"/>
          <p:nvPr/>
        </p:nvSpPr>
        <p:spPr>
          <a:xfrm>
            <a:off x="6674706" y="2044293"/>
            <a:ext cx="52497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vi-VN" sz="2400" b="1" dirty="0"/>
              <a:t>Giải pháp:</a:t>
            </a:r>
          </a:p>
          <a:p>
            <a:pPr algn="just">
              <a:buNone/>
            </a:pPr>
            <a:endParaRPr lang="vi-V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vi-VN" sz="2400" dirty="0"/>
              <a:t> Xây dựng </a:t>
            </a:r>
            <a:r>
              <a:rPr lang="vi-VN" sz="2400" b="1" dirty="0"/>
              <a:t>PHIHub</a:t>
            </a:r>
            <a:r>
              <a:rPr lang="vi-VN" sz="2400" dirty="0"/>
              <a:t> (Personal Health Intelligence Hub).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 sz="2400" dirty="0"/>
              <a:t> Tích hợp theo dõi chỉ số và hệ thống gợi ý thông minh.</a:t>
            </a:r>
          </a:p>
        </p:txBody>
      </p:sp>
    </p:spTree>
    <p:extLst>
      <p:ext uri="{BB962C8B-B14F-4D97-AF65-F5344CB8AC3E}">
        <p14:creationId xmlns:p14="http://schemas.microsoft.com/office/powerpoint/2010/main" val="230260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0110B-70B1-9C74-A3BC-450E563F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F3EEFAD-25E9-9D52-0D66-201029A38171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9A754C-62BA-3F8E-F623-6AFDDDDC440E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35049322-904B-F0EA-1C4C-FBC6217948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D3991FCF-4586-332D-B7D7-9CF3C0E90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767F0D-66D8-0AC0-B89E-0B71404C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913" y="64666"/>
            <a:ext cx="9823587" cy="1030016"/>
          </a:xfrm>
        </p:spPr>
        <p:txBody>
          <a:bodyPr>
            <a:normAutofit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MỤC TIÊU ĐỀ TÀI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3E228-2872-0F5E-651C-33901BB1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4</a:t>
            </a:fld>
            <a:endParaRPr lang="vi-V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AE4D693-C50B-9A14-1B2F-A6713A885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" y="2090172"/>
            <a:ext cx="107727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Lưu trữ tập trung: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11 loại chỉ số (BMI, huyết áp, nhịp tim, giấc ngủ...).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 quan hóa: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Biểu đồ tương tác giúp nhận diện xu hướng sức khỏe.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 vấn tự động: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Sử dụng 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 AI Engine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để đưa ra khuyến nghị.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 mật: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Cơ chế xác thực JWT &amp; HttpOnly Cookie</a:t>
            </a:r>
          </a:p>
        </p:txBody>
      </p:sp>
    </p:spTree>
    <p:extLst>
      <p:ext uri="{BB962C8B-B14F-4D97-AF65-F5344CB8AC3E}">
        <p14:creationId xmlns:p14="http://schemas.microsoft.com/office/powerpoint/2010/main" val="3348831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7CAAA-68F3-E93C-2B7F-74F0681E9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D85C3FC-9D35-E6CC-52E2-C953CB4E6BCA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F8D319-2C9D-DD2C-27C0-333FA825DB53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8A22FF25-DC9F-2F0F-1E9B-1D86A43926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9E91CB13-7CA8-617C-5B56-EE8765616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5136FB-B964-C1C8-A521-9A74368D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913" y="64666"/>
            <a:ext cx="9823587" cy="1030016"/>
          </a:xfrm>
        </p:spPr>
        <p:txBody>
          <a:bodyPr>
            <a:normAutofit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CÔNG NGHỆ SỬ DỤNG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052D9-11F6-7907-2365-F0B30D406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5</a:t>
            </a:fld>
            <a:endParaRPr lang="vi-VN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DA04278-2A97-A32A-BF9B-3DC87D68D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95" y="1998126"/>
            <a:ext cx="102489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Kiến trúc: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MERN Stack (MongoDB - Express - React - Node.js).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 (Time Series Collection cho dữ liệu sức khỏe).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Node.js, Express, json-rules-engine (AI Logic).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18, Vite, Recharts, Tailwind CSS.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Docker &amp; Docker Compose (Triển khai nhất quán).</a:t>
            </a:r>
          </a:p>
        </p:txBody>
      </p:sp>
    </p:spTree>
    <p:extLst>
      <p:ext uri="{BB962C8B-B14F-4D97-AF65-F5344CB8AC3E}">
        <p14:creationId xmlns:p14="http://schemas.microsoft.com/office/powerpoint/2010/main" val="1420436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DEBE-B31F-7BE7-4AD2-F493A408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9EA400D-49E7-31BA-33E4-9522FEDA72CC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84EBD-FBE0-CA89-A29C-A117D52B0716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129EDF2E-9F64-F903-181D-84E5CBB0E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72D560C7-8E82-1D7C-8B4C-E5EB86DD0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10C5BF-F1F6-3FC1-909C-84A8F583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63" y="64665"/>
            <a:ext cx="10694263" cy="1030016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KIẾN TRÚC HỆ THỐNG &amp; QUY TRÌNH XỬ LÝ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03427-BF31-F391-0AC4-6C1DF985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AA8E0-AE16-E8B4-EF9A-C43B76666A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482" y="996733"/>
            <a:ext cx="8113035" cy="5142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0560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2BF8-99CE-57E7-DEBA-908A31E0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DAE1933-5678-90A7-41EC-644C3F14C31D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1D678C-A5C9-168F-0D29-C687CF96E174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70CC279E-403C-D3CF-C868-1DCBAF6E09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E2317BF7-D972-556F-6E30-0C746E686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B6E282-247B-67A1-2AE6-EB826E23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63" y="64665"/>
            <a:ext cx="10694263" cy="1030016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KIẾN TRÚC HỆ THỐNG &amp; QUY TRÌNH XỬ LÝ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36666-7CBC-84B8-3648-454900AF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7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1105C-8EB1-B77C-7F2B-ABA06189F4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5726" y="1094681"/>
            <a:ext cx="8113035" cy="5142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Hình 3.7 Quy trình đưa ra tư vấn tự động (Recommendation Engine)">
            <a:extLst>
              <a:ext uri="{FF2B5EF4-FFF2-40B4-BE49-F238E27FC236}">
                <a16:creationId xmlns:a16="http://schemas.microsoft.com/office/drawing/2014/main" id="{92132C96-93C4-462E-B1B2-5E80851310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06" y="1698141"/>
            <a:ext cx="11876188" cy="3269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BF1D6-CF0E-3E3B-06D9-65AAD889ACF3}"/>
              </a:ext>
            </a:extLst>
          </p:cNvPr>
          <p:cNvSpPr txBox="1"/>
          <p:nvPr/>
        </p:nvSpPr>
        <p:spPr>
          <a:xfrm>
            <a:off x="3480061" y="4967924"/>
            <a:ext cx="5231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dirty="0">
                <a:latin typeface="Be Vietnam Pro Black" pitchFamily="2" charset="0"/>
              </a:rPr>
              <a:t>Quy trình đưa ra tư vấn tự động</a:t>
            </a:r>
          </a:p>
        </p:txBody>
      </p:sp>
    </p:spTree>
    <p:extLst>
      <p:ext uri="{BB962C8B-B14F-4D97-AF65-F5344CB8AC3E}">
        <p14:creationId xmlns:p14="http://schemas.microsoft.com/office/powerpoint/2010/main" val="2412123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A562-94E6-9C0C-730C-B298E8583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94DF7A6-37C5-23A2-7591-95B68424BCDA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ECE0BFF-45FC-1809-E3EC-5291F78F8FFE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B028A078-EB99-CF10-3955-2689BB6F0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FCA2658D-878B-A044-763B-F6DF5C34A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DF9E7C-1D4A-579B-437E-E5D39990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63" y="64665"/>
            <a:ext cx="10694263" cy="1030016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KIẾN TRÚC HỆ THỐNG &amp; QUY TRÌNH XỬ LÝ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AFB45-C935-5E01-06D9-69A5E474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8</a:t>
            </a:fld>
            <a:endParaRPr lang="vi-VN" dirty="0"/>
          </a:p>
        </p:txBody>
      </p:sp>
      <p:pic>
        <p:nvPicPr>
          <p:cNvPr id="9" name="Picture 8" descr="Hình 3.7 Quy trình đưa ra tư vấn tự động (Recommendation Engine)">
            <a:extLst>
              <a:ext uri="{FF2B5EF4-FFF2-40B4-BE49-F238E27FC236}">
                <a16:creationId xmlns:a16="http://schemas.microsoft.com/office/drawing/2014/main" id="{BB742394-3F4E-B848-1865-294C1CEC39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10294" y="1794108"/>
            <a:ext cx="11876188" cy="326978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1565FF-EF7C-A62D-6CFF-FA47ED026785}"/>
              </a:ext>
            </a:extLst>
          </p:cNvPr>
          <p:cNvSpPr txBox="1"/>
          <p:nvPr/>
        </p:nvSpPr>
        <p:spPr>
          <a:xfrm>
            <a:off x="796871" y="1690061"/>
            <a:ext cx="1059825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800" b="1" dirty="0"/>
              <a:t>Luồng dữ liệu:</a:t>
            </a:r>
          </a:p>
          <a:p>
            <a:pPr algn="just"/>
            <a:endParaRPr lang="vi-VN" sz="2400" dirty="0"/>
          </a:p>
          <a:p>
            <a:pPr marL="457200" indent="-457200" algn="just">
              <a:buFont typeface="+mj-lt"/>
              <a:buAutoNum type="arabicPeriod"/>
            </a:pPr>
            <a:r>
              <a:rPr lang="vi-VN" sz="2400" dirty="0"/>
              <a:t>Người dùng nhập liệu từ React Frontend.</a:t>
            </a:r>
          </a:p>
          <a:p>
            <a:pPr marL="457200" indent="-457200" algn="just">
              <a:buFont typeface="+mj-lt"/>
              <a:buAutoNum type="arabicPeriod"/>
            </a:pPr>
            <a:endParaRPr lang="vi-VN" sz="2400" dirty="0"/>
          </a:p>
          <a:p>
            <a:pPr marL="457200" indent="-457200" algn="just">
              <a:buFont typeface="+mj-lt"/>
              <a:buAutoNum type="arabicPeriod"/>
            </a:pPr>
            <a:r>
              <a:rPr lang="vi-VN" sz="2400" dirty="0"/>
              <a:t>Backend nhận request, xác thực qua JWT.</a:t>
            </a:r>
          </a:p>
          <a:p>
            <a:pPr marL="457200" indent="-457200" algn="just">
              <a:buFont typeface="+mj-lt"/>
              <a:buAutoNum type="arabicPeriod"/>
            </a:pPr>
            <a:endParaRPr lang="vi-VN" sz="2400" dirty="0"/>
          </a:p>
          <a:p>
            <a:pPr marL="457200" indent="-457200" algn="just">
              <a:buFont typeface="+mj-lt"/>
              <a:buAutoNum type="arabicPeriod"/>
            </a:pPr>
            <a:r>
              <a:rPr lang="vi-VN" sz="2400" dirty="0"/>
              <a:t>Lưu trữ vào MongoDB.</a:t>
            </a:r>
          </a:p>
          <a:p>
            <a:pPr marL="457200" indent="-457200" algn="just">
              <a:buFont typeface="+mj-lt"/>
              <a:buAutoNum type="arabicPeriod"/>
            </a:pPr>
            <a:endParaRPr lang="vi-VN" sz="2400" dirty="0"/>
          </a:p>
          <a:p>
            <a:pPr marL="457200" indent="-457200" algn="just">
              <a:buFont typeface="+mj-lt"/>
              <a:buAutoNum type="arabicPeriod"/>
            </a:pPr>
            <a:r>
              <a:rPr lang="vi-VN" sz="2400" b="1" dirty="0"/>
              <a:t>Rule Engine</a:t>
            </a:r>
            <a:r>
              <a:rPr lang="vi-VN" sz="2400" dirty="0"/>
              <a:t> phân tích dữ liệu 7 ngày gần nhất </a:t>
            </a:r>
            <a:r>
              <a:rPr lang="vi-VN" sz="2400" b="1" dirty="0"/>
              <a:t>→ </a:t>
            </a:r>
            <a:r>
              <a:rPr lang="vi-VN" sz="2400" dirty="0"/>
              <a:t>Trả về khuyến nghị.</a:t>
            </a:r>
          </a:p>
        </p:txBody>
      </p:sp>
    </p:spTree>
    <p:extLst>
      <p:ext uri="{BB962C8B-B14F-4D97-AF65-F5344CB8AC3E}">
        <p14:creationId xmlns:p14="http://schemas.microsoft.com/office/powerpoint/2010/main" val="1351979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50B2-D4D5-DD47-6761-59178E40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806129-657C-1702-C122-CEE82C9F4091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C278D42-AD4B-3E8A-D677-E81D25C91E95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BE8E9412-D0DD-DEAE-1230-5BF2D5B375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2163200A-6B05-FF16-1FDD-95CF84FC3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833FF1-71CB-F733-256F-13063487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63" y="64665"/>
            <a:ext cx="10694263" cy="1030016"/>
          </a:xfrm>
        </p:spPr>
        <p:txBody>
          <a:bodyPr>
            <a:normAutofit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GIẢI THUẬT HỆ THỐNG GỢI Ý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F1AE7-C8A7-0B1F-31BE-E889B94B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9</a:t>
            </a:fld>
            <a:endParaRPr lang="vi-V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07B01D-0A76-8437-D253-DE68DA96B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47" y="1559257"/>
            <a:ext cx="11480705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Công cụ: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Thư viện json-rules-engine.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Nguyên lý: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Forward Chaining (Suy diễn tiến).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Ví dụ luật (Rules):</a:t>
            </a: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altLang="vi-V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Giấc ngủ: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 7h/đêm </a:t>
            </a:r>
            <a:r>
              <a:rPr lang="vi-VN" sz="2400" b="1" dirty="0"/>
              <a:t>→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Cảnh báo "Thiếu ngủ".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altLang="vi-V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Cân nặng: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Giảm &gt; 2kg/tuần </a:t>
            </a:r>
            <a:r>
              <a:rPr lang="vi-VN" sz="2400" b="1" dirty="0"/>
              <a:t>→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Cảnh báo bất thường.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altLang="vi-VN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BMI: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 18.5 (Thiếu cân) hoặc &gt; 24.9 (Thừa cân) </a:t>
            </a:r>
            <a:r>
              <a:rPr lang="vi-VN" sz="2400" b="1" dirty="0"/>
              <a:t>→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Gợi ý dinh dưỡng/vận động.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Độ phức tạp: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vi-VN" altLang="vi-VN" sz="2400" dirty="0"/>
              <a:t>O(n x r) 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(n: số metrics, r: số rules).</a:t>
            </a:r>
          </a:p>
        </p:txBody>
      </p:sp>
    </p:spTree>
    <p:extLst>
      <p:ext uri="{BB962C8B-B14F-4D97-AF65-F5344CB8AC3E}">
        <p14:creationId xmlns:p14="http://schemas.microsoft.com/office/powerpoint/2010/main" val="3440218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C2FB-9D34-ADF2-5141-16C3B556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6C59A-182C-61EC-BA68-4250F9C59623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0AB363-FE52-BFE6-53F5-EAAF63F706FE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634BB72F-E809-73A6-F3C1-B23A1C6A09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13FB4339-688D-3E89-B041-883A9E00A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C0845E-6920-AA5A-09A0-4C8D93C5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63" y="64665"/>
            <a:ext cx="10694263" cy="1030016"/>
          </a:xfrm>
        </p:spPr>
        <p:txBody>
          <a:bodyPr>
            <a:normAutofit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CHỨC NĂNG &amp; KẾT QUẢ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C7734-34E4-472B-0434-04116259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10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94AB5E-2DB1-4F26-17C9-CB03BBA9A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184" y="1031943"/>
            <a:ext cx="2743200" cy="5169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D98CBF-EEC7-EABC-6D0D-F26A83437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546" y="1778317"/>
            <a:ext cx="3879215" cy="33013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20D28E-F47F-CFFF-E414-A10A04CE17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5807" y="1758511"/>
            <a:ext cx="4105986" cy="334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54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32E5-F067-5D50-4247-92427B09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FA8505A-9FC6-98AC-D0DF-937E999B8C42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687328-D047-5F9C-2FD8-22DCB04F75AC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710468DB-B7EB-78CD-4F74-E7B6AAC0B4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EBCF9EF5-A643-D7FA-407E-7CD731708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56F9EC-F84F-07E3-6980-1E8501CC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63" y="64665"/>
            <a:ext cx="10694263" cy="1030016"/>
          </a:xfrm>
        </p:spPr>
        <p:txBody>
          <a:bodyPr>
            <a:normAutofit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KẾT LUẬN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45F71-8E4A-1633-2C86-3228D002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11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4D1181-AA09-026B-63EA-0FB1361B9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762684" y="915718"/>
            <a:ext cx="2743200" cy="5169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153042-EBB2-95F0-844E-CB38C330A7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075948" y="1778316"/>
            <a:ext cx="3879215" cy="33013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93308A-B8D8-9AA4-9190-E394FAD687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430147" y="1830091"/>
            <a:ext cx="4105986" cy="3340976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B712B256-698E-32C2-E435-0C03B8A84B2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7287" y="1053755"/>
            <a:ext cx="1196261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 quả đạt được: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Hoàn thiện website Full-stack với đầy đủ chức năng quản lý sức khỏe.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 dựng thành công Rule-based AI Engine với 15 luật sức khỏe.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Triển khai Docker Containerization.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 chế: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 liệu vẫn phải nhập thủ công, chưa kết nối thiết bị đeo.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Chưa áp dụng AI học sâu (Deep Learning) để dự báo.</a:t>
            </a:r>
          </a:p>
        </p:txBody>
      </p:sp>
    </p:spTree>
    <p:extLst>
      <p:ext uri="{BB962C8B-B14F-4D97-AF65-F5344CB8AC3E}">
        <p14:creationId xmlns:p14="http://schemas.microsoft.com/office/powerpoint/2010/main" val="23096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567C-D3EB-2A6A-5A82-912D7251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4FF6508-A588-8214-252E-482B9DFDEBFB}"/>
              </a:ext>
            </a:extLst>
          </p:cNvPr>
          <p:cNvGrpSpPr/>
          <p:nvPr/>
        </p:nvGrpSpPr>
        <p:grpSpPr>
          <a:xfrm>
            <a:off x="0" y="-16350"/>
            <a:ext cx="12192000" cy="932068"/>
            <a:chOff x="0" y="-16350"/>
            <a:chExt cx="12192000" cy="9320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EB5CC5-60F4-9090-FC4C-6A4CE327AA22}"/>
                </a:ext>
              </a:extLst>
            </p:cNvPr>
            <p:cNvSpPr>
              <a:spLocks/>
            </p:cNvSpPr>
            <p:nvPr/>
          </p:nvSpPr>
          <p:spPr>
            <a:xfrm>
              <a:off x="0" y="-16350"/>
              <a:ext cx="12192000" cy="932068"/>
            </a:xfrm>
            <a:prstGeom prst="rect">
              <a:avLst/>
            </a:prstGeom>
            <a:solidFill>
              <a:srgbClr val="EBE653"/>
            </a:solidFill>
            <a:ln>
              <a:solidFill>
                <a:srgbClr val="EBE6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6" name="Picture 4" descr="Thông báo - tvu.edu.vn">
              <a:extLst>
                <a:ext uri="{FF2B5EF4-FFF2-40B4-BE49-F238E27FC236}">
                  <a16:creationId xmlns:a16="http://schemas.microsoft.com/office/drawing/2014/main" id="{58992674-608D-A6EC-80C8-78EFC42D12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76" y="23480"/>
              <a:ext cx="892238" cy="8922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Content Placeholder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94AB2187-2CC2-F2E8-0E15-0D003295F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6317891"/>
            <a:ext cx="12192000" cy="156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7DD1A4-8B7C-B406-C310-5F63A602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63" y="64665"/>
            <a:ext cx="10694263" cy="1030016"/>
          </a:xfrm>
        </p:spPr>
        <p:txBody>
          <a:bodyPr>
            <a:normAutofit/>
          </a:bodyPr>
          <a:lstStyle/>
          <a:p>
            <a:r>
              <a:rPr lang="vi-VN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HƯỚNG PHÁT TRIỂN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1EA7A-5229-0472-D14B-52479023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12</a:t>
            </a:fld>
            <a:endParaRPr lang="vi-VN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37DDDBB-04D3-B400-C302-8AD4B7D54EE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1188" y="2090172"/>
            <a:ext cx="1146962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 hợp IoT: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Kết nối Apple Health/Google Fit để đồng bộ dữ liệu tự động.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Nâng cấp AI: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Sử dụng Machine Learning để dự đoán xu hướng bệnh lý.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Phát triển phiên bản React Native.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vi-VN" altLang="vi-V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 báo: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Tích hợp Email/Push Notification nhắc nhở lịch uống thuốc.</a:t>
            </a:r>
          </a:p>
        </p:txBody>
      </p:sp>
    </p:spTree>
    <p:extLst>
      <p:ext uri="{BB962C8B-B14F-4D97-AF65-F5344CB8AC3E}">
        <p14:creationId xmlns:p14="http://schemas.microsoft.com/office/powerpoint/2010/main" val="2360167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5A0E-9DEF-66B4-52DF-9B2A07B0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933D3C73-B2F5-417F-38B9-D5E3303D3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7800"/>
            <a:ext cx="12192000" cy="1600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AC13C9C-047B-8483-B91A-FC1836627CE6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932068"/>
          </a:xfrm>
          <a:prstGeom prst="rect">
            <a:avLst/>
          </a:prstGeom>
          <a:solidFill>
            <a:srgbClr val="EBE653"/>
          </a:solidFill>
          <a:ln>
            <a:solidFill>
              <a:srgbClr val="EBE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28" name="Picture 4" descr="Thông báo - tvu.edu.vn">
            <a:extLst>
              <a:ext uri="{FF2B5EF4-FFF2-40B4-BE49-F238E27FC236}">
                <a16:creationId xmlns:a16="http://schemas.microsoft.com/office/drawing/2014/main" id="{9F137487-49C4-EDF9-49BD-11A66F60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6" y="23480"/>
            <a:ext cx="892238" cy="89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972E2D6-8EC2-9399-8534-C5D38482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5C45-29A5-45BF-8ACA-30520F031FDB}" type="slidenum">
              <a:rPr lang="vi-VN" smtClean="0"/>
              <a:t>13</a:t>
            </a:fld>
            <a:endParaRPr lang="vi-V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7A99E4-E4D1-0B26-17EA-0DE553299A19}"/>
              </a:ext>
            </a:extLst>
          </p:cNvPr>
          <p:cNvSpPr txBox="1"/>
          <p:nvPr/>
        </p:nvSpPr>
        <p:spPr>
          <a:xfrm>
            <a:off x="2950464" y="142869"/>
            <a:ext cx="6291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vi-VN" sz="4000" b="1" dirty="0">
                <a:latin typeface="Montserrat ExtraBold" pitchFamily="2" charset="0"/>
              </a:rPr>
              <a:t>CẢM ƠN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FDD7A-5594-5511-8AA5-B888116E3FCD}"/>
              </a:ext>
            </a:extLst>
          </p:cNvPr>
          <p:cNvSpPr txBox="1"/>
          <p:nvPr/>
        </p:nvSpPr>
        <p:spPr>
          <a:xfrm>
            <a:off x="83820" y="2030618"/>
            <a:ext cx="120243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400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Cảm ơn Thầy/Cô và Hội đồng đã lắng nghe</a:t>
            </a:r>
          </a:p>
          <a:p>
            <a:pPr algn="ctr"/>
            <a:endParaRPr lang="vi-VN" sz="4400" dirty="0">
              <a:latin typeface="Montserrat ExtraBold" pitchFamily="2" charset="0"/>
            </a:endParaRPr>
          </a:p>
          <a:p>
            <a:pPr algn="ctr"/>
            <a:r>
              <a:rPr lang="vi-VN" sz="4400" dirty="0">
                <a:latin typeface="Montserrat ExtraBold" pitchFamily="2" charset="0"/>
              </a:rPr>
              <a:t>Mời Quý Thầy/Cô cùng xem demo </a:t>
            </a:r>
          </a:p>
        </p:txBody>
      </p:sp>
    </p:spTree>
    <p:extLst>
      <p:ext uri="{BB962C8B-B14F-4D97-AF65-F5344CB8AC3E}">
        <p14:creationId xmlns:p14="http://schemas.microsoft.com/office/powerpoint/2010/main" val="1019080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690</Words>
  <Application>Microsoft Office PowerPoint</Application>
  <PresentationFormat>Widescreen</PresentationFormat>
  <Paragraphs>117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Be Vietnam Pro</vt:lpstr>
      <vt:lpstr>Be Vietnam Pro Black</vt:lpstr>
      <vt:lpstr>Calibri</vt:lpstr>
      <vt:lpstr>Calibri Light</vt:lpstr>
      <vt:lpstr>Montserrat ExtraBold</vt:lpstr>
      <vt:lpstr>Open Sans ExtraBold</vt:lpstr>
      <vt:lpstr>Open Sans SemiBold</vt:lpstr>
      <vt:lpstr>Times New Roman</vt:lpstr>
      <vt:lpstr>Office Theme</vt:lpstr>
      <vt:lpstr>XÂY DỰNG WEBSITE  TƯ VẤN VÀ THEO DÕI SỨC KHOẺ CÁ NHÂN</vt:lpstr>
      <vt:lpstr>NỘI DUNG</vt:lpstr>
      <vt:lpstr>ĐẶT VẤN ĐỀ &amp; LÝ DO CHỌN ĐỀ TÀI</vt:lpstr>
      <vt:lpstr>MỤC TIÊU ĐỀ TÀI</vt:lpstr>
      <vt:lpstr>CÔNG NGHỆ SỬ DỤNG</vt:lpstr>
      <vt:lpstr>KIẾN TRÚC HỆ THỐNG &amp; QUY TRÌNH XỬ LÝ</vt:lpstr>
      <vt:lpstr>KIẾN TRÚC HỆ THỐNG &amp; QUY TRÌNH XỬ LÝ</vt:lpstr>
      <vt:lpstr>KIẾN TRÚC HỆ THỐNG &amp; QUY TRÌNH XỬ LÝ</vt:lpstr>
      <vt:lpstr>GIẢI THUẬT HỆ THỐNG GỢI Ý</vt:lpstr>
      <vt:lpstr>CHỨC NĂNG &amp; KẾT QUẢ</vt:lpstr>
      <vt:lpstr>KẾT LUẬN</vt:lpstr>
      <vt:lpstr>HƯỚNG PHÁT TRIỂN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Khoa Phan</dc:creator>
  <cp:lastModifiedBy>Khoa Phan</cp:lastModifiedBy>
  <cp:revision>6</cp:revision>
  <dcterms:created xsi:type="dcterms:W3CDTF">2025-12-28T16:15:18Z</dcterms:created>
  <dcterms:modified xsi:type="dcterms:W3CDTF">2025-12-28T17:51:16Z</dcterms:modified>
</cp:coreProperties>
</file>